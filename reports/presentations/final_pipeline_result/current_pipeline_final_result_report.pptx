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34155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BTAD</c:v>
                </c:pt>
                <c:pt idx="1">
                  <c:v>Kodytek</c:v>
                </c:pt>
                <c:pt idx="2">
                  <c:v>KSDD2</c:v>
                </c:pt>
                <c:pt idx="3">
                  <c:v>MVTec dev</c:v>
                </c:pt>
                <c:pt idx="4">
                  <c:v>VisA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0.22091779172427767</c:v>
                </c:pt>
                <c:pt idx="1">
                  <c:v>0.3164183901158455</c:v>
                </c:pt>
                <c:pt idx="2">
                  <c:v>0.5273906486716718</c:v>
                </c:pt>
                <c:pt idx="3">
                  <c:v>0.5889315575838339</c:v>
                </c:pt>
                <c:pt idx="4">
                  <c:v>0.15929070642199109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Selected</c:v>
                </c:pt>
              </c:strCache>
            </c:strRef>
          </c:tx>
          <c:spPr>
            <a:solidFill>
              <a:srgbClr val="0D9488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BTAD</c:v>
                </c:pt>
                <c:pt idx="1">
                  <c:v>Kodytek</c:v>
                </c:pt>
                <c:pt idx="2">
                  <c:v>KSDD2</c:v>
                </c:pt>
                <c:pt idx="3">
                  <c:v>MVTec dev</c:v>
                </c:pt>
                <c:pt idx="4">
                  <c:v>VisA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0.23437142044447665</c:v>
                </c:pt>
                <c:pt idx="1">
                  <c:v>0.3164183901158455</c:v>
                </c:pt>
                <c:pt idx="2">
                  <c:v>0.5273906486716718</c:v>
                </c:pt>
                <c:pt idx="3">
                  <c:v>0.5947762992535837</c:v>
                </c:pt>
                <c:pt idx="4">
                  <c:v>0.15929070642199109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Oracle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BTAD</c:v>
                </c:pt>
                <c:pt idx="1">
                  <c:v>Kodytek</c:v>
                </c:pt>
                <c:pt idx="2">
                  <c:v>KSDD2</c:v>
                </c:pt>
                <c:pt idx="3">
                  <c:v>MVTec dev</c:v>
                </c:pt>
                <c:pt idx="4">
                  <c:v>VisA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0.3488214453696508</c:v>
                </c:pt>
                <c:pt idx="1">
                  <c:v>0.5139416958795368</c:v>
                </c:pt>
                <c:pt idx="2">
                  <c:v>0.6296532121944105</c:v>
                </c:pt>
                <c:pt idx="3">
                  <c:v>0.6576203589623835</c:v>
                </c:pt>
                <c:pt idx="4">
                  <c:v>0.36012208774745186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5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0.1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Selected Dice</c:v>
                </c:pt>
              </c:strCache>
            </c:strRef>
          </c:tx>
          <c:spPr>
            <a:solidFill>
              <a:srgbClr val="0D948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V4.2d</c:v>
                </c:pt>
                <c:pt idx="1">
                  <c:v>V4.2e</c:v>
                </c:pt>
                <c:pt idx="2">
                  <c:v>V4.2f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0.372159065989003</c:v>
                </c:pt>
                <c:pt idx="1">
                  <c:v>0.3595198029794487</c:v>
                </c:pt>
                <c:pt idx="2">
                  <c:v>0.36644949298151375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Oracle Dice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V4.2d</c:v>
                </c:pt>
                <c:pt idx="1">
                  <c:v>V4.2e</c:v>
                </c:pt>
                <c:pt idx="2">
                  <c:v>V4.2f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0.4886801904646797</c:v>
                </c:pt>
                <c:pt idx="1">
                  <c:v>0.5028544034935536</c:v>
                </c:pt>
                <c:pt idx="2">
                  <c:v>0.5020317600306867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0.1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EEAD4"/>
                </a:solidFill>
                <a:latin typeface="Aptos"/>
              </a:rPr>
              <a:t>FINAL RESEARCH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60807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"/>
              </a:rPr>
              <a:t>Automatic industrial defect
pseudo-mask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61488"/>
            <a:ext cx="58064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  <a:latin typeface="Aptos"/>
              </a:rPr>
              <a:t>Architecture, reproduced results, generalization evidence, and honest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94760"/>
            <a:ext cx="1481328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849624"/>
            <a:ext cx="14081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1,476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95144" y="3794760"/>
            <a:ext cx="1664208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849624"/>
            <a:ext cx="159105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5 data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3794760"/>
            <a:ext cx="1572768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23944" y="3849624"/>
            <a:ext cx="14996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292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16752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Aptos"/>
              </a:rPr>
              <a:t>Frozen V4.2f rerun | August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85432" y="548640"/>
            <a:ext cx="4837176" cy="5705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itle_mosaic.png"/>
          <p:cNvPicPr>
            <a:picLocks noChangeAspect="1"/>
          </p:cNvPicPr>
          <p:nvPr/>
        </p:nvPicPr>
        <p:blipFill>
          <a:blip r:embed="rId2"/>
          <a:srcRect l="21774" r="21774"/>
          <a:stretch>
            <a:fillRect/>
          </a:stretch>
        </p:blipFill>
        <p:spPr>
          <a:xfrm>
            <a:off x="6903720" y="566928"/>
            <a:ext cx="48006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Executive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SUMMARY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Aptos"/>
              </a:rPr>
              <a:t>The research implementation is complete. Further tuning on the same exposed data is unlikely to strengthen the paper.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2542032" cy="13350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109728" cy="133502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9384"/>
            <a:ext cx="2130551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D9488"/>
                </a:solidFill>
                <a:latin typeface="Aptos"/>
              </a:rPr>
              <a:t>+0.095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04872"/>
            <a:ext cx="213055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locked selector Dice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24912"/>
            <a:ext cx="21305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confirmed on unseen 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783080"/>
            <a:ext cx="2542032" cy="13350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783080"/>
            <a:ext cx="109728" cy="13350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1929384"/>
            <a:ext cx="2130551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F4444"/>
                </a:solidFill>
                <a:latin typeface="Aptos"/>
              </a:rPr>
              <a:t>0.366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404872"/>
            <a:ext cx="213055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macro selected Dice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724912"/>
            <a:ext cx="21305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-0.006 vs V4.2d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783080"/>
            <a:ext cx="2542032" cy="13350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109728" cy="13350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1929384"/>
            <a:ext cx="2130551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F4444"/>
                </a:solidFill>
                <a:latin typeface="Aptos"/>
              </a:rPr>
              <a:t>0.159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404872"/>
            <a:ext cx="213055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locked VisA Dice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2724912"/>
            <a:ext cx="21305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generalization gate failed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15984" y="1783080"/>
            <a:ext cx="2542032" cy="13350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15984" y="1783080"/>
            <a:ext cx="109728" cy="13350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5" y="1929384"/>
            <a:ext cx="2130551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59E0B"/>
                </a:solidFill>
                <a:latin typeface="Aptos"/>
              </a:rPr>
              <a:t>-0.001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5" y="2404872"/>
            <a:ext cx="213055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synthetic pixel-AP delta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5" y="2724912"/>
            <a:ext cx="21305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95% CI crosses zero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703320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3703320"/>
            <a:ext cx="109728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3849624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ptos"/>
              </a:rPr>
              <a:t>Confirmed contribution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4178808"/>
            <a:ext cx="289864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Real-candidate, leave-category-out selector calibration reduces regret with a confidence interval excluding zero.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25696" y="3703320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25696" y="3703320"/>
            <a:ext cx="109728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3849624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Negative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4178808"/>
            <a:ext cx="289864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The generic auto-mask architecture does not transfer at release quality to locked VisA categories.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703320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3703320"/>
            <a:ext cx="109728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3849624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Aptos"/>
              </a:rPr>
              <a:t>Paper-ready 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4178808"/>
            <a:ext cx="289864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Present the method, validated selector result, null synthesis utility, and measured failure modes without overclaiming.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15000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F766E"/>
                </a:solidFill>
                <a:latin typeface="Aptos"/>
              </a:rPr>
              <a:t>Decision: freeze the architecture and move from model development to paper packaging.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Why automatic pseudo-masks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MOTIVATION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Aptos"/>
              </a:rPr>
              <a:t>Many controllable industrial defect-generation workflows begin with a manually supplied bounding box or pixel mask.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224028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11679"/>
            <a:ext cx="41148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66543"/>
            <a:ext cx="338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029967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496312"/>
            <a:ext cx="1874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Find the defect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80944" y="2441448"/>
            <a:ext cx="384047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29584" y="1874519"/>
            <a:ext cx="224028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6744" y="2011679"/>
            <a:ext cx="41148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066543"/>
            <a:ext cx="338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9664" y="2029967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Annotate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2496312"/>
            <a:ext cx="1874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Draw box or mask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97296" y="2441448"/>
            <a:ext cx="384048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45936" y="1874519"/>
            <a:ext cx="224028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83096" y="2011679"/>
            <a:ext cx="41148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066543"/>
            <a:ext cx="338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029967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Aptos"/>
              </a:rPr>
              <a:t>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2496312"/>
            <a:ext cx="1874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Diffusion / inpaint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13648" y="2441448"/>
            <a:ext cx="384048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62288" y="1874519"/>
            <a:ext cx="224028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9448" y="2011679"/>
            <a:ext cx="41148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6024" y="2066543"/>
            <a:ext cx="338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7" y="2029967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ptos"/>
              </a:rPr>
              <a:t>Train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2496312"/>
            <a:ext cx="1874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Use image-mask pairs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" y="3675887"/>
            <a:ext cx="31546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3675887"/>
            <a:ext cx="109728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" y="3822191"/>
            <a:ext cx="2715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" y="4151375"/>
            <a:ext cx="271576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Pixel masks require skilled labor and are difficult to scale across parts and factories.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98848" y="3675887"/>
            <a:ext cx="31546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98848" y="3675887"/>
            <a:ext cx="109728" cy="12984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3822191"/>
            <a:ext cx="2715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Consistency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151375"/>
            <a:ext cx="271576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Boxes and masks vary by annotator, especially for fuzzy, broad, or low-contrast defects.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93024" y="3675887"/>
            <a:ext cx="31546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93024" y="3675887"/>
            <a:ext cx="109728" cy="12984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49056" y="3822191"/>
            <a:ext cx="2715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ptos"/>
              </a:rPr>
              <a:t>Project objective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9056" y="4151375"/>
            <a:ext cx="271576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Infer uncertainty-aware, purpose-specific pseudo-masks from normal images and a few unlabeled defects.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742432"/>
            <a:ext cx="10744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F766E"/>
                </a:solidFill>
                <a:latin typeface="Aptos"/>
              </a:rPr>
              <a:t>The project removes manual spatial annotation from the user workflow, but does not claim automatic masks are human ground truth.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Research questions and claim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FRAMING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914400"/>
            <a:ext cx="10771632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115568"/>
            <a:ext cx="658368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170432"/>
            <a:ext cx="58521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1097280"/>
            <a:ext cx="9098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Can normal-reference and multimodal evidence generate useful automatic pseudo-masks?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084832"/>
            <a:ext cx="10771632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2286000"/>
            <a:ext cx="658368" cy="3840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340864"/>
            <a:ext cx="58521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RQ2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2267712"/>
            <a:ext cx="9098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Can a category-agnostic selector choose the right candidate under domain shift?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255264"/>
            <a:ext cx="10771632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" y="3456432"/>
            <a:ext cx="658368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511296"/>
            <a:ext cx="58521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RQ3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438144"/>
            <a:ext cx="9098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Do selected masks produce visible, low-leakage synthetic defects?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425696"/>
            <a:ext cx="10771632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2688" y="4626864"/>
            <a:ext cx="658368" cy="38404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681727"/>
            <a:ext cx="58521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RQ4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4608576"/>
            <a:ext cx="9098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Does the synthetic corpus improve an independent downstream student?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F766E"/>
                </a:solidFill>
                <a:latin typeface="Aptos"/>
              </a:rPr>
              <a:t>Confirmed: selector calibration. Mixed: mask architecture and visual synthesis. Null: downstream synthetic utility.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End-to-end research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1645920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84048" cy="32918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426464"/>
            <a:ext cx="3108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1362456"/>
            <a:ext cx="8961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Aptos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01368"/>
            <a:ext cx="131673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normal + few defects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75688" y="1847088"/>
            <a:ext cx="210312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50008" y="1234440"/>
            <a:ext cx="1645920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87168" y="1371600"/>
            <a:ext cx="384048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23744" y="1426464"/>
            <a:ext cx="3108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1362456"/>
            <a:ext cx="8961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Aptos"/>
              </a:rPr>
              <a:t>Localize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1801368"/>
            <a:ext cx="131673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Qwen soft regions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14216" y="1847088"/>
            <a:ext cx="210312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88536" y="1234440"/>
            <a:ext cx="1645920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25696" y="1371600"/>
            <a:ext cx="384048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1426464"/>
            <a:ext cx="3108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1362456"/>
            <a:ext cx="8961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Aptos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1801368"/>
            <a:ext cx="131673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DINO / residual / texture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52744" y="1847088"/>
            <a:ext cx="210312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27064" y="1234440"/>
            <a:ext cx="1645920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64224" y="1371600"/>
            <a:ext cx="384048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426464"/>
            <a:ext cx="3108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1362456"/>
            <a:ext cx="8961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Propose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1801368"/>
            <a:ext cx="131673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binary + soft candidates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91272" y="1847088"/>
            <a:ext cx="210311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65592" y="1234440"/>
            <a:ext cx="1645920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02752" y="1371600"/>
            <a:ext cx="384048" cy="32918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7" y="1426464"/>
            <a:ext cx="3108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9096" y="1362456"/>
            <a:ext cx="8961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ptos"/>
              </a:rPr>
              <a:t>Select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3" y="1801368"/>
            <a:ext cx="131673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calibrated rank + abstain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1847088"/>
            <a:ext cx="210312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04120" y="1234440"/>
            <a:ext cx="1645920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241280" y="1371600"/>
            <a:ext cx="384048" cy="32918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77856" y="1426464"/>
            <a:ext cx="3108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07624" y="1362456"/>
            <a:ext cx="8961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Generate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68712" y="1801368"/>
            <a:ext cx="131673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SD1.5 + critic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3063240"/>
            <a:ext cx="10771632" cy="205740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327355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ptos"/>
              </a:rPr>
              <a:t>Outputs are role-specific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3694176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eval_tight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training_soft / medium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uncertainty_map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inpaint_soft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327355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ptos"/>
              </a:rPr>
              <a:t>Evidence is auditable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3694176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candidate metadata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source reliability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selection confidence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visual contact sheets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327355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ptos"/>
              </a:rPr>
              <a:t>Claims are gated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3694176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official-mask firewall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leave-source-out folds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preregistered thresholds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locked evaluation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F766E"/>
                </a:solidFill>
                <a:latin typeface="Aptos"/>
              </a:rPr>
              <a:t>The architecture is complete; the measured evidence determines which components remain experimental.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Automatic mask generation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256032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932688"/>
            <a:ext cx="2560320" cy="62179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088136"/>
            <a:ext cx="23408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1810512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1901952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defect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2468880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560320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up to 16 normals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" y="3127248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218688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Qwen soft prior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3785616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877056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foreground estimate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81528" y="3127248"/>
            <a:ext cx="237744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83280" y="932688"/>
            <a:ext cx="256032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83280" y="932688"/>
            <a:ext cx="2560320" cy="6217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1088136"/>
            <a:ext cx="23408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2736" y="1810512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94176" y="1901952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DINO memory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2736" y="2468880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94176" y="2560320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registered residual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2736" y="3127248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4176" y="3218688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MuSc rarity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2736" y="3785616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94176" y="3877056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FFT / texture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2736" y="4443983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94176" y="4535423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PatchCore guided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61888" y="3127248"/>
            <a:ext cx="237744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263640" y="932688"/>
            <a:ext cx="256032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63640" y="932688"/>
            <a:ext cx="2560320" cy="6217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1088136"/>
            <a:ext cx="23408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Candidates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83096" y="1810512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4536" y="1901952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fused quantiles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83096" y="2468880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74536" y="2560320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components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83096" y="3127248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3218688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SAM2 refinement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83096" y="3785616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74536" y="3877056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posterior compact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83096" y="4443983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74536" y="4535423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uncertainty contours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42248" y="3127248"/>
            <a:ext cx="237744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144000" y="932688"/>
            <a:ext cx="256032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144000" y="932688"/>
            <a:ext cx="2560320" cy="62179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53728" y="1088136"/>
            <a:ext cx="23408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63456" y="1810512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54896" y="1901952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candidate features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63456" y="2468880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54896" y="2560320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list ranking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63456" y="3127248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54896" y="3218688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risk calibration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63456" y="3785616"/>
            <a:ext cx="2121408" cy="4389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54896" y="3877056"/>
            <a:ext cx="19385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F172A"/>
                </a:solidFill>
                <a:latin typeface="Aptos"/>
              </a:rPr>
              <a:t>hard / soft / 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" y="5715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F766E"/>
                </a:solidFill>
                <a:latin typeface="Aptos"/>
              </a:rPr>
              <a:t>Zero-shot rule: category and defect names do not route the generic headline path; official masks never create candidates.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One defect, multiple mask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PSEUDO-LABELS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960120"/>
            <a:ext cx="25877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960120"/>
            <a:ext cx="109728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10642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Aptos"/>
              </a:rPr>
              <a:t>positive_core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435608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high-confidence pixels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960120"/>
            <a:ext cx="25877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960120"/>
            <a:ext cx="10972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10642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ptos"/>
              </a:rPr>
              <a:t>eval_tight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435608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conservative binary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960120"/>
            <a:ext cx="25877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960120"/>
            <a:ext cx="109728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10642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Aptos"/>
              </a:rPr>
              <a:t>training_medium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435608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hard line-like training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960120"/>
            <a:ext cx="25877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960120"/>
            <a:ext cx="109728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7" y="110642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Aptos"/>
              </a:rPr>
              <a:t>training_soft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7" y="1435608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fuzzy uncertainty-aware target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2898648"/>
            <a:ext cx="25877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" y="2898648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044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possible_region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374136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supported outer extent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2898648"/>
            <a:ext cx="25877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2898648"/>
            <a:ext cx="10972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3044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uncertainty_map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9312" y="3374136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source and boundary disagreement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2898648"/>
            <a:ext cx="25877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2898648"/>
            <a:ext cx="109728" cy="14173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044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34155"/>
                </a:solidFill>
                <a:latin typeface="Aptos"/>
              </a:rPr>
              <a:t>inpaint_soft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374136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soft generation envelope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102352"/>
            <a:ext cx="10442448" cy="65836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2852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ptos"/>
              </a:rPr>
              <a:t>Ambiguous pixels are down-weighted in Phase 3 and Phase 5 instead of being treated as certain foreground.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64748B"/>
                </a:solidFill>
                <a:latin typeface="Aptos"/>
              </a:rPr>
              <a:t>This is an engineering strength; downstream gains still require independent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Evaluation firewall and scientific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PROTOCOL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877824"/>
            <a:ext cx="106984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0F172A"/>
                </a:solidFill>
                <a:latin typeface="Aptos"/>
              </a:rPr>
              <a:t>Runtime and evaluation data are separated before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64208"/>
            <a:ext cx="2880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801368"/>
            <a:ext cx="41148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56231"/>
            <a:ext cx="338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81965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ptos"/>
              </a:rPr>
              <a:t>Runtime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normal + unlabeled defect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2" y="1664208"/>
            <a:ext cx="2880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82312" y="1801368"/>
            <a:ext cx="41148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856231"/>
            <a:ext cx="338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181965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Aptos"/>
              </a:rPr>
              <a:t>Sealed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28600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masks + hashes + manifests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1664208"/>
            <a:ext cx="2880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41080" y="1801368"/>
            <a:ext cx="41148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77656" y="1856231"/>
            <a:ext cx="338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81965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Locked 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28600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Aptos"/>
              </a:rPr>
              <a:t>official masks opened afterward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03320" y="2286000"/>
            <a:ext cx="786384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71231" y="2286000"/>
            <a:ext cx="777241" cy="0"/>
          </a:xfrm>
          <a:prstGeom prst="line">
            <a:avLst/>
          </a:prstGeom>
          <a:ln w="2667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4360" y="3749039"/>
            <a:ext cx="2578608" cy="1161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749039"/>
            <a:ext cx="100584" cy="11612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913631"/>
            <a:ext cx="2139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Aptos"/>
              </a:rPr>
              <a:t>Content hashes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279392"/>
            <a:ext cx="213969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Aptos"/>
              </a:rPr>
              <a:t>datasets, configs, models, reports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47288" y="3749039"/>
            <a:ext cx="2578608" cy="1161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47288" y="3749039"/>
            <a:ext cx="100584" cy="1161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3913631"/>
            <a:ext cx="2139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ptos"/>
              </a:rPr>
              <a:t>Leave-source-out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279392"/>
            <a:ext cx="213969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Aptos"/>
              </a:rPr>
              <a:t>five exposed sources, no in-fold labels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0216" y="3749039"/>
            <a:ext cx="2578608" cy="1161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0216" y="3749039"/>
            <a:ext cx="100584" cy="1161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3913631"/>
            <a:ext cx="2139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Aptos"/>
              </a:rPr>
              <a:t>Preregistration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4279392"/>
            <a:ext cx="213969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Aptos"/>
              </a:rPr>
              <a:t>thresholds fixed before result access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53144" y="3749039"/>
            <a:ext cx="2578608" cy="11612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53144" y="3749039"/>
            <a:ext cx="100584" cy="1161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09176" y="3913631"/>
            <a:ext cx="2139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Negative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9176" y="4279392"/>
            <a:ext cx="2139696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Aptos"/>
              </a:rPr>
              <a:t>failed gates retained and reported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6692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0F766E"/>
                </a:solidFill>
                <a:latin typeface="Aptos"/>
              </a:rPr>
              <a:t>This firewall is part of the contribution: it prevents benchmark masks from silently becoming training signals.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Evidence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PROTOCOL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932688"/>
          <a:ext cx="653795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566"/>
                <a:gridCol w="852777"/>
                <a:gridCol w="1137036"/>
                <a:gridCol w="2463579"/>
              </a:tblGrid>
              <a:tr h="646611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Dataset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Images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Categories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6611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MVTec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exposed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VisA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1,200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locked once, then exposed for V4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6611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BTAD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external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KSDD2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external development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6611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Kodytek wood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external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V4.2f total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1,476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10 source categories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leave-dataset-out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89520" y="987552"/>
            <a:ext cx="391363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987552"/>
            <a:ext cx="109728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133856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ptos"/>
              </a:rPr>
              <a:t>Development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1463040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V4.2f compares proposal and selection behavior across five complete source-held-out folds.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487168"/>
            <a:ext cx="391363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2487168"/>
            <a:ext cx="109728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2633472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Locked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962656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MVTec locked categories confirm selector benefit but reject release quality. VisA exposes severe transfer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986784"/>
            <a:ext cx="391363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3986784"/>
            <a:ext cx="10972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4133088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Interpretation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4462272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VisA can no longer support another locked claim. A future confirmatory run needs a new untouched benchmark.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Aptos"/>
              </a:rPr>
              <a:t>More tuning on these exposed sets would increase researcher degrees of freedom without creating stronger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Confirmed contribution: real-candidate selector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Aptos"/>
              </a:rPr>
              <a:t>Train the selector on real labelled candidates instead of synthetic corruptions. Confirmed twice.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63040"/>
            <a:ext cx="3291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63040"/>
            <a:ext cx="10972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9344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D9488"/>
                </a:solidFill>
                <a:latin typeface="Aptos"/>
              </a:rPr>
              <a:t>+0.095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8483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locked Dice gain, 10 unseen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95% CI [+0.045, +0.144] - the decisive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1463040"/>
            <a:ext cx="3291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3087" y="1463040"/>
            <a:ext cx="109728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609344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2C55E"/>
                </a:solidFill>
                <a:latin typeface="Aptos"/>
              </a:rPr>
              <a:t>+0.194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8483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development regret reduction, 5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04872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95% CI [+0.101, +0.301]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1463040"/>
            <a:ext cx="38404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07808" y="1463040"/>
            <a:ext cx="109728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609344"/>
            <a:ext cx="34015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Aptos"/>
              </a:rPr>
              <a:t>Same candidates, different selector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938528"/>
            <a:ext cx="340156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Each arm is scored on an identical, hash-verified candidate pool, and every category is predicted by calibration trained without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182112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Development mean selection regret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58444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Aptos"/>
              </a:rPr>
              <a:t>Synthetic calibration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22576" y="3584448"/>
            <a:ext cx="2926079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22576" y="3584448"/>
            <a:ext cx="2571292" cy="29260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94376" y="357530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Aptos"/>
              </a:rPr>
              <a:t>0.351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37083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Aptos"/>
              </a:rPr>
              <a:t>Real calibration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22576" y="4370832"/>
            <a:ext cx="2926079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22576" y="4370832"/>
            <a:ext cx="1149217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94376" y="4361688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D9488"/>
                </a:solidFill>
                <a:latin typeface="Aptos"/>
              </a:rPr>
              <a:t>0.157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182112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Development mean selected Dice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358444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Aptos"/>
              </a:rPr>
              <a:t>Synthetic calibration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08976" y="3584448"/>
            <a:ext cx="2926079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08976" y="3584448"/>
            <a:ext cx="1195968" cy="29260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0776" y="357530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Aptos"/>
              </a:rPr>
              <a:t>0.225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37083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Aptos"/>
              </a:rPr>
              <a:t>Real calibration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08976" y="4370832"/>
            <a:ext cx="2926079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808976" y="4370832"/>
            <a:ext cx="2496212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0776" y="4361688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D9488"/>
                </a:solidFill>
                <a:latin typeface="Aptos"/>
              </a:rPr>
              <a:t>0.469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74243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F766E"/>
                </a:solidFill>
                <a:latin typeface="Aptos"/>
              </a:rPr>
              <a:t>The locked result is the load-bearing one: it holds on categories never used during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The sealed test: locked MVTec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GENERALIZATION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Aptos"/>
              </a:rPr>
              <a:t>10 categories were never touched during development. Official masks opened once, after outputs were sealed.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63040"/>
            <a:ext cx="3291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63040"/>
            <a:ext cx="10972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9344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D9488"/>
                </a:solidFill>
                <a:latin typeface="Aptos"/>
              </a:rPr>
              <a:t>+0.095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8483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selector Dice gain on unseen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95% CI [+0.045, +0.144], P(&lt;=0) = 0.0001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1463040"/>
            <a:ext cx="3291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3087" y="1463040"/>
            <a:ext cx="10972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609344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F4444"/>
                </a:solidFill>
                <a:latin typeface="Aptos"/>
              </a:rPr>
              <a:t>0.317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8483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locked macro Dice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04872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below the 0.55 release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1463040"/>
            <a:ext cx="38404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07808" y="1463040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609344"/>
            <a:ext cx="3429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59E0B"/>
                </a:solidFill>
                <a:latin typeface="Aptos"/>
              </a:rPr>
              <a:t>0.562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084832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candidate oracle Dice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404872"/>
            <a:ext cx="3429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selection leaves 0.245 Dice unused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182112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Locked selected Dice by selector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58444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Aptos"/>
              </a:rPr>
              <a:t>Synthetic calibration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22576" y="3584448"/>
            <a:ext cx="2926079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22576" y="3584448"/>
            <a:ext cx="1615540" cy="29260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94376" y="357530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Aptos"/>
              </a:rPr>
              <a:t>0.221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37083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Aptos"/>
              </a:rPr>
              <a:t>Real calibration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22576" y="4370832"/>
            <a:ext cx="2926079" cy="2926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322576" y="4370832"/>
            <a:ext cx="2311971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94376" y="4361688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D9488"/>
                </a:solidFill>
                <a:latin typeface="Aptos"/>
              </a:rPr>
              <a:t>0.316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3145536"/>
            <a:ext cx="52120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6208" y="3145536"/>
            <a:ext cx="109728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291840"/>
            <a:ext cx="4773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ptos"/>
              </a:rPr>
              <a:t>What it confirms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621024"/>
            <a:ext cx="4773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The selector contribution transfers to categories it never saw. This is the paper's primary claim.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8" y="4315968"/>
            <a:ext cx="52120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6208" y="4315968"/>
            <a:ext cx="109728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462272"/>
            <a:ext cx="4773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What it rejects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791456"/>
            <a:ext cx="4773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The full mask architecture is not release-ready, and selection still leaves most of the ceiling unused.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74243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839 images, 29,584 sealed candidates, one-shot evaluation - re-running it is forbidden by the sealed configuration.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V4.2f reproduced headline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987552"/>
            <a:ext cx="336499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987552"/>
            <a:ext cx="109728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33856"/>
            <a:ext cx="29535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2C55E"/>
                </a:solidFill>
                <a:latin typeface="Aptos"/>
              </a:rPr>
              <a:t>0.489 -&gt; 0.502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09344"/>
            <a:ext cx="2953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macro oracle 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9384"/>
            <a:ext cx="2953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gain +0.0134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987552"/>
            <a:ext cx="336499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987552"/>
            <a:ext cx="10972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133856"/>
            <a:ext cx="29535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F4444"/>
                </a:solidFill>
                <a:latin typeface="Aptos"/>
              </a:rPr>
              <a:t>0.372 -&gt; 0.366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1609344"/>
            <a:ext cx="2953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macro selected Dice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1929384"/>
            <a:ext cx="2953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change -0.0057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987552"/>
            <a:ext cx="336499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987552"/>
            <a:ext cx="109728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133856"/>
            <a:ext cx="29535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8B5CF6"/>
                </a:solidFill>
                <a:latin typeface="Aptos"/>
              </a:rPr>
              <a:t>32,244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609344"/>
            <a:ext cx="2953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held-out candidates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1929384"/>
            <a:ext cx="29535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15.92%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7980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Aptos"/>
              </a:rPr>
              <a:t>Better candidates, no better output: even a perfect ranker on this pool would add only +0.136 macro Dice.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438144"/>
            <a:ext cx="3255264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3438144"/>
            <a:ext cx="109728" cy="14447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584448"/>
            <a:ext cx="2816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Aptos"/>
              </a:rPr>
              <a:t>Proposal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913631"/>
            <a:ext cx="2816352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All five source oracles are non-regressive. New contours become strict oracle winners on 125 images.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2" y="3438144"/>
            <a:ext cx="3255264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62272" y="3438144"/>
            <a:ext cx="109728" cy="1444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4" y="3584448"/>
            <a:ext cx="2816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Selection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8304" y="3913631"/>
            <a:ext cx="2816352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Only 12 new contours are selected. Kodytek falls back to its weaker baseline after refitting.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3438144"/>
            <a:ext cx="3255264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3438144"/>
            <a:ext cx="109728" cy="1444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7" y="3584448"/>
            <a:ext cx="2816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7" y="3913631"/>
            <a:ext cx="2816352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Keep the mechanism as research infrastructure, leave it default-off, and preserve V4.2d fallback.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Aptos"/>
              </a:rPr>
              <a:t>Rerun status: succeeded; cache hit: True; elapsed: 2072.8 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V4.2f result by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950976"/>
          <a:ext cx="731520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66175" y="1097280"/>
            <a:ext cx="32461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66175" y="1097280"/>
            <a:ext cx="109728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2207" y="1243584"/>
            <a:ext cx="2807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Aptos"/>
              </a:rPr>
              <a:t>Best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7" y="1572768"/>
            <a:ext cx="28072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BTAD and MVTec obtain small selected gains; KSDD2 safely abstains at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2670048"/>
            <a:ext cx="32461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66175" y="2670048"/>
            <a:ext cx="109728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7" y="2816352"/>
            <a:ext cx="2807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Main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3145536"/>
            <a:ext cx="28072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Kodytek selected Dice drops 0.3625 -&gt; 0.3164 because the refitted fold no longer overrides.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4242816"/>
            <a:ext cx="32461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5" y="4242816"/>
            <a:ext cx="10972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7" y="4389120"/>
            <a:ext cx="28072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Binding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4718304"/>
            <a:ext cx="28072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VisA oracle barely moves and selected output remains at the weak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Candidate-quality sprint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ABLATION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" y="960120"/>
          <a:ext cx="66294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43800" y="1097280"/>
          <a:ext cx="3977639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09"/>
                <a:gridCol w="1265612"/>
                <a:gridCol w="904009"/>
                <a:gridCol w="904009"/>
              </a:tblGrid>
              <a:tr h="78867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Sprint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Candidates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Regret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8867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V4.2d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27,816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0.0857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0.1165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V4.2e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41,638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0.1021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0.1433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8867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V4.2f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32,244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0.0908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0.1356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43800" y="4526280"/>
            <a:ext cx="397763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4526280"/>
            <a:ext cx="109728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4672584"/>
            <a:ext cx="353872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Aptos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5001768"/>
            <a:ext cx="3538727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V4.2f recovers almost all V4.2e oracle gain with 22.6% fewer candidates, but neither proposal family passes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833872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1">
                <a:solidFill>
                  <a:srgbClr val="64748B"/>
                </a:solidFill>
                <a:latin typeface="Aptos"/>
              </a:rPr>
              <a:t>The widening oracle-selection gap is the reason to stop fixed candidate sweeps.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V4.2f preregistered gate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DECISION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005840"/>
          <a:ext cx="708659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318"/>
                <a:gridCol w="1717963"/>
                <a:gridCol w="1825336"/>
                <a:gridCol w="858981"/>
              </a:tblGrid>
              <a:tr h="6858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Observed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VisA oracle gain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&gt;= +0.030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+0.0018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1">
                          <a:solidFill>
                            <a:srgbClr val="EF4444"/>
                          </a:solidFill>
                          <a:latin typeface="Aptos"/>
                        </a:rPr>
                        <a:t>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Macro oracle gain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&gt;= +0.010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+0.0134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1">
                          <a:solidFill>
                            <a:srgbClr val="22C55E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Per-source oracle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no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all non-regressive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1">
                          <a:solidFill>
                            <a:srgbClr val="22C55E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Candidate growth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&lt;= 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15.92%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1">
                          <a:solidFill>
                            <a:srgbClr val="22C55E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Selected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&lt;= 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0.00571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1">
                          <a:solidFill>
                            <a:srgbClr val="EF4444"/>
                          </a:solidFill>
                          <a:latin typeface="Aptos"/>
                        </a:rPr>
                        <a:t>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Expected-IoU MAE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&lt;= 0.12/source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0">
                          <a:solidFill>
                            <a:srgbClr val="0F172A"/>
                          </a:solidFill>
                          <a:latin typeface="Aptos"/>
                        </a:rPr>
                        <a:t>Kodytek 0.1264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50" b="1">
                          <a:solidFill>
                            <a:srgbClr val="EF4444"/>
                          </a:solidFill>
                          <a:latin typeface="Aptos"/>
                        </a:rPr>
                        <a:t>FAIL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92440" y="1170432"/>
            <a:ext cx="333756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170432"/>
            <a:ext cx="109728" cy="13533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316736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Aptos"/>
              </a:rPr>
              <a:t>Proposal mechanism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1645920"/>
            <a:ext cx="2898648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The bounded contour family is valid and efficient. Macro ceiling improvement is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852928"/>
            <a:ext cx="333756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852928"/>
            <a:ext cx="109728" cy="13533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2999232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Primary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3328416"/>
            <a:ext cx="2898648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The intended cross-domain VisA boundary problem remains essentially unchanged.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535424"/>
            <a:ext cx="333756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4535424"/>
            <a:ext cx="109728" cy="13533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4681728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Promotion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5010912"/>
            <a:ext cx="2898648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No deployment. Do not round the near-miss selected guard into a pass.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Visual evidence: MVTec and wood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QUALITATIVE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84124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Aptos"/>
              </a:rPr>
              <a:t>Bottle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207008"/>
            <a:ext cx="361188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ttle_m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70" y="1298448"/>
            <a:ext cx="2434763" cy="38221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5376672"/>
            <a:ext cx="3520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Aptos"/>
              </a:rPr>
              <a:t>Curved rims and contamination show both tight successes and over-segmented masks.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84124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Aptos"/>
              </a:rPr>
              <a:t>Zipper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207008"/>
            <a:ext cx="361188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zipper_m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425" y="1298448"/>
            <a:ext cx="2340117" cy="38221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98264" y="5376672"/>
            <a:ext cx="3520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Aptos"/>
              </a:rPr>
              <a:t>Repeated tooth geometry is localized well in some cases; border and tiny defects remain difficult.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84124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  <a:latin typeface="Aptos"/>
              </a:rPr>
              <a:t>Wood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6" y="1207008"/>
            <a:ext cx="361188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ood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890" y="1298448"/>
            <a:ext cx="3288451" cy="38221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1896" y="5376672"/>
            <a:ext cx="3520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Aptos"/>
              </a:rPr>
              <a:t>Morphology routing separates hard scratches from fuzzy soft-label scuffs.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71616"/>
            <a:ext cx="10652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EF4444"/>
                </a:solidFill>
                <a:latin typeface="Aptos"/>
              </a:rPr>
              <a:t>Visual masks are pseudo-labels. Official masks appear only in evaluation overlays.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Locked VisA transfer: the architecture-level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GENERALIZATION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14400"/>
            <a:ext cx="6903720" cy="5120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isa_best_wo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360" y="1024128"/>
            <a:ext cx="2319982" cy="4892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005840"/>
            <a:ext cx="367588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1005840"/>
            <a:ext cx="10972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1" y="1152144"/>
            <a:ext cx="3264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F4444"/>
                </a:solidFill>
                <a:latin typeface="Aptos"/>
              </a:rPr>
              <a:t>0.159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2711" y="1627632"/>
            <a:ext cx="326440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macro Dice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1" y="1947672"/>
            <a:ext cx="3264407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95% CI [0.094, 0.250]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724912"/>
            <a:ext cx="367588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2724912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1" y="2871216"/>
            <a:ext cx="3264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59E0B"/>
                </a:solidFill>
                <a:latin typeface="Aptos"/>
              </a:rPr>
              <a:t>0.590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1" y="3346704"/>
            <a:ext cx="326440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search-region recall (frozen runtime)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1" y="3666744"/>
            <a:ext cx="3264407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localization also transfers weakly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443984"/>
            <a:ext cx="367588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4443984"/>
            <a:ext cx="109728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1" y="4590288"/>
            <a:ext cx="3264407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8B5CF6"/>
                </a:solidFill>
                <a:latin typeface="Aptos"/>
              </a:rPr>
              <a:t>0.527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1" y="5065776"/>
            <a:ext cx="326440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accepted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1" y="5385816"/>
            <a:ext cx="3264407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quality confidence is miscalibrated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053328"/>
            <a:ext cx="10652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EF4444"/>
                </a:solidFill>
                <a:latin typeface="Aptos"/>
              </a:rPr>
              <a:t>High recall often comes with broad masks; only chewing-gum exceeds 0.30 category Dice.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6272784"/>
            <a:ext cx="10652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Aptos"/>
              </a:rPr>
              <a:t>This is the frozen runtime region. The later V4 slides rebuild a wider evidence envelope, so their recall figures are not comparable.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Synthetic generation: visible, not yet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GENERATION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14400"/>
            <a:ext cx="6812280" cy="5138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eneration_w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692" y="1042415"/>
            <a:ext cx="4217591" cy="486460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987552"/>
            <a:ext cx="3749039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987552"/>
            <a:ext cx="109728" cy="13898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1" y="1133856"/>
            <a:ext cx="333755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2C55E"/>
                </a:solidFill>
                <a:latin typeface="Aptos"/>
              </a:rPr>
              <a:t>+0.029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1609344"/>
            <a:ext cx="33375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visibility-score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1" y="1929384"/>
            <a:ext cx="333755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95% CI [+0.011, +0.049]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670048"/>
            <a:ext cx="3749039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2670048"/>
            <a:ext cx="109728" cy="13898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1" y="2816352"/>
            <a:ext cx="333755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D9488"/>
                </a:solidFill>
                <a:latin typeface="Aptos"/>
              </a:rPr>
              <a:t>10 -&gt;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1" y="3291840"/>
            <a:ext cx="33375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critic acceptance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3611880"/>
            <a:ext cx="333755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18 matched inputs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352544"/>
            <a:ext cx="3749039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4352544"/>
            <a:ext cx="109728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4498848"/>
            <a:ext cx="331012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Important caveat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1" y="4828031"/>
            <a:ext cx="3310127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The critic is not an independent human judge. Two-reviewer blind validation remains incomplete.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6099048"/>
            <a:ext cx="10652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  <a:latin typeface="Aptos"/>
              </a:rPr>
              <a:t>Generation capability is demonstrated; a general perceptual-quality claim is not.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Independent downstream utility: null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EVALUATION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960120"/>
            <a:ext cx="393192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5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292" y="1143000"/>
            <a:ext cx="2618071" cy="4663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983480" y="1051560"/>
            <a:ext cx="2971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10972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1197863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F4444"/>
                </a:solidFill>
                <a:latin typeface="Aptos"/>
              </a:rPr>
              <a:t>-0.0015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67335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pixel-AP delta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993391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95% CI [-0.0414, +0.0403]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2971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051560"/>
            <a:ext cx="10972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1197863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D9488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167335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paired training seeds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1993391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byte-identical replay 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880360"/>
            <a:ext cx="2971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80" y="2880360"/>
            <a:ext cx="109728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9512" y="3026664"/>
            <a:ext cx="2532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Aptos"/>
              </a:rPr>
              <a:t>Fair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3355848"/>
            <a:ext cx="253288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Same ResNet18 U-Net, matched optimizer steps, paired seeds, and no PatchCore fusion.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880360"/>
            <a:ext cx="2971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2880360"/>
            <a:ext cx="10972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3026664"/>
            <a:ext cx="25328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Promotion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3355848"/>
            <a:ext cx="253288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Failed: the mean gain is below +0.02 and the bootstrap interval includes zero.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736592"/>
            <a:ext cx="6309360" cy="82296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0368" y="4956048"/>
            <a:ext cx="5806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Aptos"/>
              </a:rPr>
              <a:t>Conclusion: synthetic generation is optional augmentation, not a proven detector improvement.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797296"/>
            <a:ext cx="6309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Aptos"/>
              </a:rPr>
              <a:t>A nondeterministic-training defect was found mid-study, fixed, and the null re-measured; the decision held.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6035040"/>
            <a:ext cx="6309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Aptos"/>
              </a:rPr>
              <a:t>Gate passed: False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What the project contributes, and what it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DISCUSSION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841248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Aptos"/>
              </a:rPr>
              <a:t>Defensible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841248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Aptos"/>
              </a:rPr>
              <a:t>Measured limitations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298448"/>
            <a:ext cx="5413248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63056" y="1298448"/>
            <a:ext cx="5413248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484632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End-to-end annotation-free pseudo-mask workflow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Frozen multimodal and normal-reference evidence field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Purpose-specific hard, soft, and uncertainty masks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Real-candidate selector calibration with positive CI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Official-mask firewall and reproducible manifests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Honest negative-result and abstention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600200"/>
            <a:ext cx="484632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Generic masks do not transfer at release quality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Candidate oracle remains low on VisA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Selection destabilizes when candidate pools expand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Qwen localization can still fail under domain shift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Generation critic lacks completed human validation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Aptos"/>
              </a:defRPr>
            </a:pPr>
            <a:r>
              <a:rPr>
                <a:solidFill>
                  <a:srgbClr val="0F172A"/>
                </a:solidFill>
              </a:rPr>
              <a:t>●  Synthetic utility confidence interval includes 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652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Aptos"/>
              </a:rPr>
              <a:t>The limitations do not invalidate the work; they define the correct scope of the paper.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Recommended paper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CONCLUSION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32688"/>
            <a:ext cx="10808208" cy="10515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161288"/>
            <a:ext cx="1031443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50" b="1" i="0">
                <a:solidFill>
                  <a:srgbClr val="FFFFFF"/>
                </a:solidFill>
                <a:latin typeface="Aptos"/>
              </a:rPr>
              <a:t>A rigorous study of automatic pseudo-label generation for scarce-data industrial defects, showing where uncertainty-aware selection helps and where current multimodal evidence fails to generalize.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487168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2487168"/>
            <a:ext cx="109728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2633472"/>
            <a:ext cx="46360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Aptos"/>
              </a:rPr>
              <a:t>Lead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962656"/>
            <a:ext cx="46360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Real-candidate calibration improves candidate choice under matched pools.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487168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2487168"/>
            <a:ext cx="109728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633472"/>
            <a:ext cx="46360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Aptos"/>
              </a:rPr>
              <a:t>System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62656"/>
            <a:ext cx="46360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The full automatic pipeline runs reproducibly from inputs through visual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4059936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4059936"/>
            <a:ext cx="109728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206240"/>
            <a:ext cx="46360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Aptos"/>
              </a:rPr>
              <a:t>Negative finding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4535424"/>
            <a:ext cx="46360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Generic transfer and synthetic downstream utility do not meet promotion gates.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4059936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4059936"/>
            <a:ext cx="10972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206240"/>
            <a:ext cx="46360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Aptos"/>
              </a:rPr>
              <a:t>Scientific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535424"/>
            <a:ext cx="46360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Aptos"/>
              </a:rPr>
              <a:t>The project localizes failure to proposal quality, calibration transfer, and domain shift.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97296"/>
            <a:ext cx="10561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Aptos"/>
              </a:rPr>
              <a:t>Do not market V4.2f as a deployed improvement. Use it as a preregistered boundary on diminishing returns.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098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Aptos"/>
              </a:rPr>
              <a:t>Final checkpoint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0F766E"/>
                </a:solidFill>
                <a:latin typeface="Aptos"/>
              </a:rPr>
              <a:t>CONCLUSION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55680" cy="0"/>
          </a:xfrm>
          <a:prstGeom prst="line">
            <a:avLst/>
          </a:prstGeom>
          <a:ln w="889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052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Aptos"/>
              </a:rPr>
              <a:t>ImgGen v2 | Final Pipeline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932688"/>
            <a:ext cx="2596896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932688"/>
            <a:ext cx="109728" cy="13533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078992"/>
            <a:ext cx="21854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2C55E"/>
                </a:solidFill>
                <a:latin typeface="Aptos"/>
              </a:rPr>
              <a:t>292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554480"/>
            <a:ext cx="21854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automated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1874519"/>
            <a:ext cx="2185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all passing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932688"/>
            <a:ext cx="2596896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932688"/>
            <a:ext cx="109728" cy="13533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078992"/>
            <a:ext cx="21854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0D9488"/>
                </a:solidFill>
                <a:latin typeface="Aptos"/>
              </a:rPr>
              <a:t>1,476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1554480"/>
            <a:ext cx="21854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V4.2f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1874519"/>
            <a:ext cx="2185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five source-held-out folds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932688"/>
            <a:ext cx="2596896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932688"/>
            <a:ext cx="109728" cy="13533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078992"/>
            <a:ext cx="21854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8B5CF6"/>
                </a:solidFill>
                <a:latin typeface="Aptos"/>
              </a:rPr>
              <a:t>32,244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554480"/>
            <a:ext cx="21854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candidate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874519"/>
            <a:ext cx="2185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bounded +15.92% pool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9136" y="932688"/>
            <a:ext cx="2596896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89136" y="932688"/>
            <a:ext cx="109728" cy="13533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7" y="1078992"/>
            <a:ext cx="21854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F59E0B"/>
                </a:solidFill>
                <a:latin typeface="Aptos"/>
              </a:rPr>
              <a:t>2073s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1554480"/>
            <a:ext cx="21854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"/>
              </a:rPr>
              <a:t>cache-hit rerun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1874519"/>
            <a:ext cx="21854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Aptos"/>
              </a:rPr>
              <a:t>succeeded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2770632"/>
            <a:ext cx="10771632" cy="233172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299923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Frozen checkpoint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2999232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Aptos Mono"/>
              </a:rPr>
              <a:t>19bf4bf  Complete V4.2f uncertainty-contour study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3602736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Aptos"/>
              </a:rPr>
              <a:t>Model SHA-256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3602736"/>
            <a:ext cx="7589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Aptos Mono"/>
              </a:rPr>
              <a:t>c5a6c9de23a7720c79ec4740bdfab70aa897b33203eadd966f78ce48f5d0a2ad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" y="4206240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Aptos"/>
              </a:rPr>
              <a:t>Metrics SHA-256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4206240"/>
            <a:ext cx="7589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Aptos Mono"/>
              </a:rPr>
              <a:t>06717691fc2ec0bd94866fbbbf8b17e01c656f5661a5cc9b8532ca6fd3b0e4c8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468112"/>
            <a:ext cx="10561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F766E"/>
                </a:solidFill>
                <a:latin typeface="Aptos"/>
              </a:rPr>
              <a:t>Final action: freeze architecture, preserve failed gates, and package the paper figures, tables, limitations, and reproducibility commands.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925312"/>
            <a:ext cx="10561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EF4444"/>
                </a:solidFill>
                <a:latin typeface="Aptos"/>
              </a:rPr>
              <a:t>No additional same-data contour or selector tuning is recommended.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ImgGen v2 Final Pipeline Result Report</dc:title>
  <dc:subject>Automatic pseudo-mask generation, synthetic generation, and downstream evaluation</dc:subject>
  <dc:creator>ImgGen v2 Research Project</dc:creator>
  <cp:keywords>industrial anomaly, pseudo-mask, Qwen, DINOv2, SAM2, candidate selection, synthetic defects</cp:keywords>
  <dc:description>Generated from the frozen V4.2f rerun and canonical project evidence.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